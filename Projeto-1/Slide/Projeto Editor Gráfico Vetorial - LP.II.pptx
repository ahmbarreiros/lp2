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aleway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Raleway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aleway-bold.fntdata"/><Relationship Id="rId6" Type="http://schemas.openxmlformats.org/officeDocument/2006/relationships/slide" Target="slides/slide1.xml"/><Relationship Id="rId18" Type="http://schemas.openxmlformats.org/officeDocument/2006/relationships/font" Target="fonts/Raleway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c6f90357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c6f9035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c6f90357f_0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c6f90357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c6f90357f_0_1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c6f90357f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c6f90357f_0_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c6f90357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fa4ef697e4_1_9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fa4ef697e4_1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c6f90357f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c6f90357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a4ef697e4_1_1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a4ef697e4_1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a5bdc68a3_0_1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fa5bdc68a3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a5bdc68a3_0_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fa5bdc68a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a5bdc68a3_0_3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fa5bdc68a3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c6f90357f_0_2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c6f90357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c6f90357f_0_3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c6f90357f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2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636800" y="80700"/>
            <a:ext cx="4426500" cy="498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" name="Google Shape;39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9"/>
          <p:cNvSpPr txBox="1"/>
          <p:nvPr>
            <p:ph type="title"/>
          </p:nvPr>
        </p:nvSpPr>
        <p:spPr>
          <a:xfrm>
            <a:off x="265500" y="1181700"/>
            <a:ext cx="4045200" cy="15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743001"/>
            <a:ext cx="8520600" cy="200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2845182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l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●"/>
              <a:defRPr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Relationship Id="rId5" Type="http://schemas.openxmlformats.org/officeDocument/2006/relationships/image" Target="../media/image8.png"/><Relationship Id="rId6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Projeto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Editor Gr</a:t>
            </a:r>
            <a:r>
              <a:rPr lang="en"/>
              <a:t>áfico Vetorial – LP.II</a:t>
            </a:r>
            <a:endParaRPr/>
          </a:p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Ant</a:t>
            </a:r>
            <a:r>
              <a:rPr lang="en"/>
              <a:t>ônio Barreiros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https://github.com/ahmbarreiros/LP2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Classe Figure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Classe Figure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6900" y="1239800"/>
            <a:ext cx="3561900" cy="188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1496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600"/>
              <a:t>Superclasse que possui os atributos comuns de figuras (posição, tamanho, contorno..)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1496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1600"/>
              <a:t>A classe Figure é abstrata, portanto só será usada caso uma classe herde seus atributos e métodos</a:t>
            </a:r>
            <a:endParaRPr sz="1600"/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6950" y="674725"/>
            <a:ext cx="5365749" cy="284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79900" y="3801975"/>
            <a:ext cx="3724275" cy="96202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6900" y="3573325"/>
            <a:ext cx="3473100" cy="141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Métodos abstratos que devem ser implementados individualmente em cada classe herdeira</a:t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265500" y="1181700"/>
            <a:ext cx="4045200" cy="15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Figuras</a:t>
            </a:r>
            <a:endParaRPr/>
          </a:p>
        </p:txBody>
      </p:sp>
      <p:sp>
        <p:nvSpPr>
          <p:cNvPr id="79" name="Google Shape;79;p16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Ret</a:t>
            </a:r>
            <a:r>
              <a:rPr lang="en"/>
              <a:t>ângulo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Ellipse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Arco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Reta</a:t>
            </a:r>
            <a:endParaRPr/>
          </a:p>
        </p:txBody>
      </p:sp>
      <p:sp>
        <p:nvSpPr>
          <p:cNvPr id="80" name="Google Shape;80;p16"/>
          <p:cNvSpPr txBox="1"/>
          <p:nvPr/>
        </p:nvSpPr>
        <p:spPr>
          <a:xfrm>
            <a:off x="265500" y="2715300"/>
            <a:ext cx="7735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Figuras que herdam da superclasse Figure</a:t>
            </a:r>
            <a:endParaRPr sz="18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265500" y="3883700"/>
            <a:ext cx="40452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*As figuras e sua superclasse são empacotadas no pacote figures, declarado como:</a:t>
            </a:r>
            <a:endParaRPr sz="13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</a:t>
            </a:r>
            <a:r>
              <a:rPr lang="en" sz="13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ackage figures;</a:t>
            </a:r>
            <a:endParaRPr sz="12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641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Classe Retângulo</a:t>
            </a:r>
            <a:endParaRPr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64100" y="1495250"/>
            <a:ext cx="3276000" cy="94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/>
              <a:t>1.	Construção da classe Rect, herdando Figure.</a:t>
            </a:r>
            <a:endParaRPr sz="1600"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4627" y="93527"/>
            <a:ext cx="5423024" cy="132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39975" y="1650609"/>
            <a:ext cx="5492325" cy="331072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64100" y="3044650"/>
            <a:ext cx="3276000" cy="94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/>
              <a:t>2.	Implementação de método abstrato herdado de Figure.</a:t>
            </a: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Aplicaç</a:t>
            </a:r>
            <a:r>
              <a:rPr lang="en"/>
              <a:t>ão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/>
          <p:cNvPicPr preferRelativeResize="0"/>
          <p:nvPr/>
        </p:nvPicPr>
        <p:blipFill rotWithShape="1">
          <a:blip r:embed="rId3">
            <a:alphaModFix/>
          </a:blip>
          <a:srcRect b="14995" l="0" r="0" t="0"/>
          <a:stretch/>
        </p:blipFill>
        <p:spPr>
          <a:xfrm>
            <a:off x="152400" y="2282875"/>
            <a:ext cx="8839200" cy="90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/>
          <p:cNvPicPr preferRelativeResize="0"/>
          <p:nvPr/>
        </p:nvPicPr>
        <p:blipFill rotWithShape="1">
          <a:blip r:embed="rId4">
            <a:alphaModFix/>
          </a:blip>
          <a:srcRect b="17177" l="0" r="0" t="0"/>
          <a:stretch/>
        </p:blipFill>
        <p:spPr>
          <a:xfrm>
            <a:off x="152400" y="3315025"/>
            <a:ext cx="8839199" cy="169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99525" y="349875"/>
            <a:ext cx="5492075" cy="1554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9"/>
          <p:cNvSpPr txBox="1"/>
          <p:nvPr>
            <p:ph type="title"/>
          </p:nvPr>
        </p:nvSpPr>
        <p:spPr>
          <a:xfrm>
            <a:off x="331475" y="489634"/>
            <a:ext cx="2842500" cy="12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Criaç</a:t>
            </a:r>
            <a:r>
              <a:rPr lang="en"/>
              <a:t>ão de figuras e foco</a:t>
            </a:r>
            <a:endParaRPr/>
          </a:p>
        </p:txBody>
      </p:sp>
      <p:sp>
        <p:nvSpPr>
          <p:cNvPr id="104" name="Google Shape;104;p19"/>
          <p:cNvSpPr txBox="1"/>
          <p:nvPr/>
        </p:nvSpPr>
        <p:spPr>
          <a:xfrm>
            <a:off x="152400" y="1904400"/>
            <a:ext cx="861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Evento mousePressed</a:t>
            </a:r>
            <a:endParaRPr sz="18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/>
        </p:nvSpPr>
        <p:spPr>
          <a:xfrm>
            <a:off x="118200" y="972650"/>
            <a:ext cx="87570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if(</a:t>
            </a:r>
            <a:endParaRPr sz="18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evt.getX() &gt;= focus.x-6-(int)focus.border &amp;&amp; evt.getX() &lt;= </a:t>
            </a:r>
            <a:r>
              <a:rPr lang="en"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focus.x+</a:t>
            </a:r>
            <a:r>
              <a:rPr lang="en"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6+(int)focus.border &amp;&amp;  evt.getY() &gt;= focus.y-6-(int)focus.border &amp;&amp; evt.getY() &lt;= focus.y+6+(int)focus.border</a:t>
            </a:r>
            <a:endParaRPr sz="18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   ) {</a:t>
            </a:r>
            <a:endParaRPr sz="18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drag = "NW";</a:t>
            </a:r>
            <a:endParaRPr sz="18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}</a:t>
            </a:r>
            <a:endParaRPr sz="18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110" name="Google Shape;11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200" y="3802874"/>
            <a:ext cx="5120850" cy="116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47075" y="2457450"/>
            <a:ext cx="3270900" cy="251332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0"/>
          <p:cNvSpPr txBox="1"/>
          <p:nvPr>
            <p:ph type="title"/>
          </p:nvPr>
        </p:nvSpPr>
        <p:spPr>
          <a:xfrm>
            <a:off x="236400" y="1955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</a:t>
            </a:r>
            <a:r>
              <a:rPr lang="en"/>
              <a:t>ógica de redimensionamento</a:t>
            </a:r>
            <a:endParaRPr/>
          </a:p>
        </p:txBody>
      </p:sp>
      <p:pic>
        <p:nvPicPr>
          <p:cNvPr id="113" name="Google Shape;113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25025" y="2312173"/>
            <a:ext cx="952500" cy="92434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4" name="Google Shape;114;p20"/>
          <p:cNvCxnSpPr/>
          <p:nvPr/>
        </p:nvCxnSpPr>
        <p:spPr>
          <a:xfrm>
            <a:off x="2325025" y="2321950"/>
            <a:ext cx="9600" cy="904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5" name="Google Shape;115;p20"/>
          <p:cNvSpPr txBox="1"/>
          <p:nvPr/>
        </p:nvSpPr>
        <p:spPr>
          <a:xfrm>
            <a:off x="1951675" y="3096650"/>
            <a:ext cx="756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Y(+)</a:t>
            </a:r>
            <a:endParaRPr b="1" sz="1300">
              <a:solidFill>
                <a:srgbClr val="FF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16" name="Google Shape;116;p20"/>
          <p:cNvCxnSpPr/>
          <p:nvPr/>
        </p:nvCxnSpPr>
        <p:spPr>
          <a:xfrm flipH="1" rot="10800000">
            <a:off x="2320225" y="2306100"/>
            <a:ext cx="962100" cy="9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7" name="Google Shape;117;p20"/>
          <p:cNvSpPr txBox="1"/>
          <p:nvPr/>
        </p:nvSpPr>
        <p:spPr>
          <a:xfrm>
            <a:off x="3189925" y="2015400"/>
            <a:ext cx="756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X</a:t>
            </a:r>
            <a:r>
              <a:rPr b="1" lang="en" sz="1300">
                <a:solidFill>
                  <a:srgbClr val="FF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(+)</a:t>
            </a:r>
            <a:endParaRPr b="1" sz="1300">
              <a:solidFill>
                <a:srgbClr val="FF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575" y="2185825"/>
            <a:ext cx="3819525" cy="217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25800" y="2185825"/>
            <a:ext cx="4752975" cy="21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1"/>
          <p:cNvSpPr txBox="1"/>
          <p:nvPr>
            <p:ph type="title"/>
          </p:nvPr>
        </p:nvSpPr>
        <p:spPr>
          <a:xfrm>
            <a:off x="236400" y="1955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Outros KeyEvents</a:t>
            </a:r>
            <a:endParaRPr/>
          </a:p>
        </p:txBody>
      </p:sp>
      <p:sp>
        <p:nvSpPr>
          <p:cNvPr id="125" name="Google Shape;125;p21"/>
          <p:cNvSpPr txBox="1"/>
          <p:nvPr/>
        </p:nvSpPr>
        <p:spPr>
          <a:xfrm>
            <a:off x="136838" y="1491475"/>
            <a:ext cx="39750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Deletar figura e mudar cor de contorno</a:t>
            </a:r>
            <a:endParaRPr sz="18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26" name="Google Shape;126;p21"/>
          <p:cNvSpPr txBox="1"/>
          <p:nvPr/>
        </p:nvSpPr>
        <p:spPr>
          <a:xfrm>
            <a:off x="4452575" y="1491475"/>
            <a:ext cx="44142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Mudar cor de fundo e tamanho do contorno</a:t>
            </a:r>
            <a:endParaRPr sz="18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>
            <p:ph type="title"/>
          </p:nvPr>
        </p:nvSpPr>
        <p:spPr>
          <a:xfrm>
            <a:off x="311700" y="866563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/>
              <a:t>Implementaç</a:t>
            </a:r>
            <a:r>
              <a:rPr lang="en"/>
              <a:t>ões</a:t>
            </a:r>
            <a:endParaRPr/>
          </a:p>
        </p:txBody>
      </p:sp>
      <p:sp>
        <p:nvSpPr>
          <p:cNvPr id="132" name="Google Shape;132;p22"/>
          <p:cNvSpPr txBox="1"/>
          <p:nvPr/>
        </p:nvSpPr>
        <p:spPr>
          <a:xfrm>
            <a:off x="236388" y="1783750"/>
            <a:ext cx="39750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Alterar cor de contorno</a:t>
            </a:r>
            <a:endParaRPr sz="18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33" name="Google Shape;133;p22"/>
          <p:cNvSpPr txBox="1"/>
          <p:nvPr/>
        </p:nvSpPr>
        <p:spPr>
          <a:xfrm>
            <a:off x="5099375" y="1783750"/>
            <a:ext cx="44142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Alterar cor de fundo</a:t>
            </a:r>
            <a:endParaRPr sz="18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134" name="Google Shape;134;p22"/>
          <p:cNvPicPr preferRelativeResize="0"/>
          <p:nvPr/>
        </p:nvPicPr>
        <p:blipFill rotWithShape="1">
          <a:blip r:embed="rId3">
            <a:alphaModFix/>
          </a:blip>
          <a:srcRect b="19524" l="0" r="0" t="0"/>
          <a:stretch/>
        </p:blipFill>
        <p:spPr>
          <a:xfrm>
            <a:off x="236400" y="2192662"/>
            <a:ext cx="4119750" cy="139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22974" y="2192650"/>
            <a:ext cx="3276241" cy="139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6850" y="3990870"/>
            <a:ext cx="7923850" cy="958162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2"/>
          <p:cNvSpPr txBox="1"/>
          <p:nvPr/>
        </p:nvSpPr>
        <p:spPr>
          <a:xfrm>
            <a:off x="136838" y="3584150"/>
            <a:ext cx="39750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Desenho do contorno</a:t>
            </a:r>
            <a:endParaRPr sz="19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138" name="Google Shape;138;p22"/>
          <p:cNvPicPr preferRelativeResize="0"/>
          <p:nvPr/>
        </p:nvPicPr>
        <p:blipFill rotWithShape="1">
          <a:blip r:embed="rId6">
            <a:alphaModFix/>
          </a:blip>
          <a:srcRect b="12549" l="33462" r="0" t="0"/>
          <a:stretch/>
        </p:blipFill>
        <p:spPr>
          <a:xfrm>
            <a:off x="5201075" y="572775"/>
            <a:ext cx="2859626" cy="121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2"/>
          <p:cNvSpPr txBox="1"/>
          <p:nvPr/>
        </p:nvSpPr>
        <p:spPr>
          <a:xfrm>
            <a:off x="5122975" y="195525"/>
            <a:ext cx="39750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Array de cores</a:t>
            </a:r>
            <a:endParaRPr sz="18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350" y="2542473"/>
            <a:ext cx="952500" cy="924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40863" y="2036516"/>
            <a:ext cx="2514600" cy="1936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3"/>
          <p:cNvPicPr preferRelativeResize="0"/>
          <p:nvPr/>
        </p:nvPicPr>
        <p:blipFill rotWithShape="1">
          <a:blip r:embed="rId5">
            <a:alphaModFix/>
          </a:blip>
          <a:srcRect b="0" l="0" r="9182" t="0"/>
          <a:stretch/>
        </p:blipFill>
        <p:spPr>
          <a:xfrm>
            <a:off x="6284500" y="2356187"/>
            <a:ext cx="1686900" cy="1508141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3"/>
          <p:cNvSpPr txBox="1"/>
          <p:nvPr/>
        </p:nvSpPr>
        <p:spPr>
          <a:xfrm>
            <a:off x="224100" y="1906311"/>
            <a:ext cx="891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Retângulo em foco</a:t>
            </a:r>
            <a:endParaRPr sz="18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48" name="Google Shape;148;p23"/>
          <p:cNvSpPr txBox="1"/>
          <p:nvPr/>
        </p:nvSpPr>
        <p:spPr>
          <a:xfrm>
            <a:off x="2473925" y="1151525"/>
            <a:ext cx="2848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Ellipse</a:t>
            </a:r>
            <a:r>
              <a:rPr lang="en"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com cor de fundo e tamanho de borda alterada</a:t>
            </a:r>
            <a:endParaRPr sz="18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49" name="Google Shape;149;p23"/>
          <p:cNvSpPr txBox="1"/>
          <p:nvPr/>
        </p:nvSpPr>
        <p:spPr>
          <a:xfrm>
            <a:off x="5703700" y="1601401"/>
            <a:ext cx="2848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Reta com cor e tamanho de contorno alterada</a:t>
            </a:r>
            <a:endParaRPr sz="18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50" name="Google Shape;150;p23"/>
          <p:cNvSpPr txBox="1"/>
          <p:nvPr>
            <p:ph type="title"/>
          </p:nvPr>
        </p:nvSpPr>
        <p:spPr>
          <a:xfrm>
            <a:off x="311700" y="382013"/>
            <a:ext cx="8520600" cy="62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100"/>
              <a:t>Exemplos</a:t>
            </a:r>
            <a:endParaRPr sz="2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lum">
  <a:themeElements>
    <a:clrScheme name="Plum">
      <a:dk1>
        <a:srgbClr val="611BB8"/>
      </a:dk1>
      <a:lt1>
        <a:srgbClr val="FFFFFF"/>
      </a:lt1>
      <a:dk2>
        <a:srgbClr val="000000"/>
      </a:dk2>
      <a:lt2>
        <a:srgbClr val="7F7F7F"/>
      </a:lt2>
      <a:accent1>
        <a:srgbClr val="333333"/>
      </a:accent1>
      <a:accent2>
        <a:srgbClr val="5E2B97"/>
      </a:accent2>
      <a:accent3>
        <a:srgbClr val="7E57C2"/>
      </a:accent3>
      <a:accent4>
        <a:srgbClr val="C77025"/>
      </a:accent4>
      <a:accent5>
        <a:srgbClr val="009688"/>
      </a:accent5>
      <a:accent6>
        <a:srgbClr val="FFD600"/>
      </a:accent6>
      <a:hlink>
        <a:srgbClr val="009688"/>
      </a:hlink>
      <a:folHlink>
        <a:srgbClr val="00968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